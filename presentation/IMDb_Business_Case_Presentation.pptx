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376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1">
                <a:solidFill>
                  <a:srgbClr val="FFFFFF"/>
                </a:solidFill>
              </a:defRPr>
            </a:pPr>
            <a:r>
              <a:t>Predictive Analytics for Cinematic Investment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1600">
                <a:solidFill>
                  <a:srgbClr val="C8C8C8"/>
                </a:solidFill>
              </a:defRPr>
            </a:pPr>
            <a:r>
              <a:t>IMDb Big Data Analysis Pipeline</a:t>
            </a:r>
          </a:p>
          <a:p>
            <a:pPr>
              <a:spcBef>
                <a:spcPts val="600"/>
              </a:spcBef>
              <a:defRPr sz="1600">
                <a:solidFill>
                  <a:srgbClr val="C8C8C8"/>
                </a:solidFill>
              </a:defRPr>
            </a:pPr>
          </a:p>
          <a:p>
            <a:pPr>
              <a:spcBef>
                <a:spcPts val="600"/>
              </a:spcBef>
              <a:defRPr sz="1600">
                <a:solidFill>
                  <a:srgbClr val="C8C8C8"/>
                </a:solidFill>
              </a:defRPr>
            </a:pPr>
            <a:r>
              <a:t>Horacio Fonseca | Alexandre Saliba | Daniel Vazquez</a:t>
            </a:r>
          </a:p>
          <a:p>
            <a:pPr>
              <a:spcBef>
                <a:spcPts val="600"/>
              </a:spcBef>
              <a:defRPr sz="1600">
                <a:solidFill>
                  <a:srgbClr val="C8C8C8"/>
                </a:solidFill>
              </a:defRPr>
            </a:pPr>
            <a:r>
              <a:t>Pregraduate Data Analysts, Miami Dade College</a:t>
            </a:r>
          </a:p>
          <a:p>
            <a:pPr>
              <a:spcBef>
                <a:spcPts val="600"/>
              </a:spcBef>
              <a:defRPr sz="1600">
                <a:solidFill>
                  <a:srgbClr val="C8C8C8"/>
                </a:solidFill>
              </a:defRPr>
            </a:pPr>
            <a:r>
              <a:t>Professor Norge Pena | Big Data Class</a:t>
            </a:r>
          </a:p>
          <a:p>
            <a:pPr>
              <a:spcBef>
                <a:spcPts val="600"/>
              </a:spcBef>
              <a:defRPr sz="1600">
                <a:solidFill>
                  <a:srgbClr val="C8C8C8"/>
                </a:solidFill>
              </a:defRPr>
            </a:pPr>
            <a:r>
              <a:t>April 30,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dc_squ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74320"/>
            <a:ext cx="1391234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36576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9376D"/>
                </a:solidFill>
              </a:defRPr>
            </a:pPr>
            <a: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323232"/>
                </a:solidFill>
              </a:defRPr>
            </a:pPr>
            <a:r>
              <a:t>📊 Analyzed 330,970 movies across 100+ years of IMDb data</a:t>
            </a:r>
          </a:p>
          <a:p>
            <a:pPr>
              <a:spcBef>
                <a:spcPts val="800"/>
              </a:spcBef>
              <a:defRPr sz="1800">
                <a:solidFill>
                  <a:srgbClr val="323232"/>
                </a:solidFill>
              </a:defRPr>
            </a:pPr>
            <a:r>
              <a:t>🎬 Processed in Databricks Serverless with Spark 4.1.0</a:t>
            </a:r>
          </a:p>
          <a:p>
            <a:pPr>
              <a:spcBef>
                <a:spcPts val="800"/>
              </a:spcBef>
              <a:defRPr sz="1800">
                <a:solidFill>
                  <a:srgbClr val="323232"/>
                </a:solidFill>
              </a:defRPr>
            </a:pPr>
            <a:r>
              <a:t>💡 Built predictive model for rating forecasting (RMSE: 1.5)</a:t>
            </a:r>
          </a:p>
          <a:p>
            <a:pPr>
              <a:spcBef>
                <a:spcPts val="800"/>
              </a:spcBef>
              <a:defRPr sz="1800">
                <a:solidFill>
                  <a:srgbClr val="323232"/>
                </a:solidFill>
              </a:defRPr>
            </a:pPr>
            <a:r>
              <a:t>📈 Identified high-ROI genres and optimal runtime strategies</a:t>
            </a:r>
          </a:p>
          <a:p>
            <a:pPr>
              <a:spcBef>
                <a:spcPts val="800"/>
              </a:spcBef>
              <a:defRPr sz="1800">
                <a:solidFill>
                  <a:srgbClr val="323232"/>
                </a:solidFill>
              </a:defRPr>
            </a:pPr>
            <a:r>
              <a:t>🚀 Enable data-driven film investment &amp; production decisions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dc_sh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74320"/>
            <a:ext cx="1042805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36576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9376D"/>
                </a:solidFill>
              </a:defRPr>
            </a:pPr>
            <a:r>
              <a:t>The Challenge: Gut-Feel to Data-Driven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323232"/>
                </a:solidFill>
              </a:defRPr>
            </a:pPr>
            <a:r>
              <a:t>❌ Problem: Film industry relies on intuition for green-lighting</a:t>
            </a:r>
          </a:p>
          <a:p>
            <a:pPr>
              <a:spcBef>
                <a:spcPts val="800"/>
              </a:spcBef>
              <a:defRPr sz="1800">
                <a:solidFill>
                  <a:srgbClr val="323232"/>
                </a:solidFill>
              </a:defRPr>
            </a:pPr>
            <a:r>
              <a:t>💰 Cost: High production costs + unpredictable audience reception</a:t>
            </a:r>
          </a:p>
          <a:p>
            <a:pPr>
              <a:spcBef>
                <a:spcPts val="800"/>
              </a:spcBef>
              <a:defRPr sz="1800">
                <a:solidFill>
                  <a:srgbClr val="323232"/>
                </a:solidFill>
              </a:defRPr>
            </a:pPr>
            <a:r>
              <a:t>📉 Risk: Under-performing films cost millions in lost revenue</a:t>
            </a:r>
          </a:p>
          <a:p>
            <a:pPr>
              <a:spcBef>
                <a:spcPts val="800"/>
              </a:spcBef>
              <a:defRPr sz="1800">
                <a:solidFill>
                  <a:srgbClr val="323232"/>
                </a:solidFill>
              </a:defRPr>
            </a:pPr>
            <a:r>
              <a:t>🎯 Solution: Data-driven predictive analytics for pre-production</a:t>
            </a:r>
          </a:p>
          <a:p>
            <a:pPr>
              <a:spcBef>
                <a:spcPts val="800"/>
              </a:spcBef>
              <a:defRPr sz="1800">
                <a:solidFill>
                  <a:srgbClr val="323232"/>
                </a:solidFill>
              </a:defRPr>
            </a:pPr>
            <a:r>
              <a:t>✅ Opportunity: Increase film profitability by 15-20% in 3 years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9376D"/>
                </a:solidFill>
              </a:defRPr>
            </a:pPr>
            <a:r>
              <a:t>KPIs &amp; Success Metrics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323232"/>
                </a:solidFill>
              </a:defRPr>
            </a:pPr>
            <a:r>
              <a:t>🔍 Predictive Accuracy: RMSE &lt; 1.5 on IMDb ratings</a:t>
            </a:r>
          </a:p>
          <a:p>
            <a:pPr>
              <a:spcBef>
                <a:spcPts val="800"/>
              </a:spcBef>
              <a:defRPr sz="1800">
                <a:solidFill>
                  <a:srgbClr val="323232"/>
                </a:solidFill>
              </a:defRPr>
            </a:pPr>
            <a:r>
              <a:t>⭐ Genre ROI Index: Maximize rating-to-vote ratio</a:t>
            </a:r>
          </a:p>
          <a:p>
            <a:pPr>
              <a:spcBef>
                <a:spcPts val="800"/>
              </a:spcBef>
              <a:defRPr sz="1800">
                <a:solidFill>
                  <a:srgbClr val="323232"/>
                </a:solidFill>
              </a:defRPr>
            </a:pPr>
            <a:r>
              <a:t>📊 Production Efficiency: Reduce under-performers (&lt;5.0 rating) by 30%</a:t>
            </a:r>
          </a:p>
          <a:p>
            <a:pPr>
              <a:spcBef>
                <a:spcPts val="800"/>
              </a:spcBef>
              <a:defRPr sz="1800">
                <a:solidFill>
                  <a:srgbClr val="323232"/>
                </a:solidFill>
              </a:defRPr>
            </a:pPr>
            <a:r>
              <a:t>📈 Market Insight: Identify high-performing niche genres</a:t>
            </a:r>
          </a:p>
          <a:p>
            <a:pPr>
              <a:spcBef>
                <a:spcPts val="800"/>
              </a:spcBef>
              <a:defRPr sz="1800">
                <a:solidFill>
                  <a:srgbClr val="323232"/>
                </a:solidFill>
              </a:defRPr>
            </a:pPr>
            <a:r>
              <a:t>🎬 Runtime Optimization: Find sweet spot for engagement &amp; budget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dc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74320"/>
            <a:ext cx="1964959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36576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9376D"/>
                </a:solidFill>
              </a:defRPr>
            </a:pPr>
            <a:r>
              <a:t>Dataset Scope &amp;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323232"/>
                </a:solidFill>
              </a:defRPr>
            </a:pPr>
            <a:r>
              <a:t>📦 Total Records: 330,970 theatrical movies</a:t>
            </a:r>
          </a:p>
          <a:p>
            <a:pPr>
              <a:spcBef>
                <a:spcPts val="800"/>
              </a:spcBef>
              <a:defRPr sz="1800">
                <a:solidFill>
                  <a:srgbClr val="323232"/>
                </a:solidFill>
              </a:defRPr>
            </a:pPr>
            <a:r>
              <a:t>📅 Time Range: 1920 - 2026 (106 years of cinema)</a:t>
            </a:r>
          </a:p>
          <a:p>
            <a:pPr>
              <a:spcBef>
                <a:spcPts val="800"/>
              </a:spcBef>
              <a:defRPr sz="1800">
                <a:solidFill>
                  <a:srgbClr val="323232"/>
                </a:solidFill>
              </a:defRPr>
            </a:pPr>
            <a:r>
              <a:t>⭐ Avg Rating: 6.16/10 across all movies</a:t>
            </a:r>
          </a:p>
          <a:p>
            <a:pPr>
              <a:spcBef>
                <a:spcPts val="800"/>
              </a:spcBef>
              <a:defRPr sz="1800">
                <a:solidFill>
                  <a:srgbClr val="323232"/>
                </a:solidFill>
              </a:defRPr>
            </a:pPr>
            <a:r>
              <a:t>🏆 Peak Year: 2023 (11,500 releases)</a:t>
            </a:r>
          </a:p>
          <a:p>
            <a:pPr>
              <a:spcBef>
                <a:spcPts val="800"/>
              </a:spcBef>
              <a:defRPr sz="1800">
                <a:solidFill>
                  <a:srgbClr val="323232"/>
                </a:solidFill>
              </a:defRPr>
            </a:pPr>
            <a:r>
              <a:t>🚀 2026 Trend: Highest avg rating (6.67) - quality improving!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dc_sh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74320"/>
            <a:ext cx="1042805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36576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9376D"/>
                </a:solidFill>
              </a:defRPr>
            </a:pPr>
            <a:r>
              <a:t>Lucrative Genre Investment (Top 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323232"/>
                </a:solidFill>
              </a:defRPr>
            </a:pPr>
            <a:r>
              <a:t>🥇 Documentary: 7.18 avg rating (55,798 movies) - HIGH QUALITY</a:t>
            </a:r>
          </a:p>
          <a:p>
            <a:pPr>
              <a:spcBef>
                <a:spcPts val="800"/>
              </a:spcBef>
              <a:defRPr sz="1800">
                <a:solidFill>
                  <a:srgbClr val="323232"/>
                </a:solidFill>
              </a:defRPr>
            </a:pPr>
            <a:r>
              <a:t>🥈 Biography: 6.92 avg rating (10,842 movies) - PRESTIGE</a:t>
            </a:r>
          </a:p>
          <a:p>
            <a:pPr>
              <a:spcBef>
                <a:spcPts val="800"/>
              </a:spcBef>
              <a:defRPr sz="1800">
                <a:solidFill>
                  <a:srgbClr val="323232"/>
                </a:solidFill>
              </a:defRPr>
            </a:pPr>
            <a:r>
              <a:t>🥉 Music: 6.79 avg rating (8,944 movies) - NICHE APPEAL</a:t>
            </a:r>
          </a:p>
          <a:p>
            <a:pPr>
              <a:spcBef>
                <a:spcPts val="800"/>
              </a:spcBef>
              <a:defRPr sz="1800">
                <a:solidFill>
                  <a:srgbClr val="323232"/>
                </a:solidFill>
              </a:defRPr>
            </a:pPr>
            <a:r>
              <a:t>📚 History: 6.77 avg rating (9,632 movies) - EDUCATIONAL</a:t>
            </a:r>
          </a:p>
          <a:p>
            <a:pPr>
              <a:spcBef>
                <a:spcPts val="800"/>
              </a:spcBef>
              <a:defRPr sz="1800">
                <a:solidFill>
                  <a:srgbClr val="323232"/>
                </a:solidFill>
              </a:defRPr>
            </a:pPr>
            <a:r>
              <a:t>💪 Sport: 6.63 avg rating (4,382 movies) - SPECIALIZED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dc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74320"/>
            <a:ext cx="1964959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36576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9376D"/>
                </a:solidFill>
              </a:defRPr>
            </a:pPr>
            <a:r>
              <a:t>High-Volume, Lower-ROI Genres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323232"/>
                </a:solidFill>
              </a:defRPr>
            </a:pPr>
            <a:r>
              <a:t>🎥 Drama: 6.21 avg rating (155,109 movies) - OVERSATURATED</a:t>
            </a:r>
          </a:p>
          <a:p>
            <a:pPr>
              <a:spcBef>
                <a:spcPts val="800"/>
              </a:spcBef>
              <a:defRPr sz="1800">
                <a:solidFill>
                  <a:srgbClr val="323232"/>
                </a:solidFill>
              </a:defRPr>
            </a:pPr>
            <a:r>
              <a:t>😂 Comedy: 5.89 avg rating (82,072 movies) - COMPETITIVE</a:t>
            </a:r>
          </a:p>
          <a:p>
            <a:pPr>
              <a:spcBef>
                <a:spcPts val="800"/>
              </a:spcBef>
              <a:defRPr sz="1800">
                <a:solidFill>
                  <a:srgbClr val="323232"/>
                </a:solidFill>
              </a:defRPr>
            </a:pPr>
            <a:r>
              <a:t>💥 Action: 5.75 avg rating (34,998 movies) - EXPENSIVE</a:t>
            </a:r>
          </a:p>
          <a:p>
            <a:pPr>
              <a:spcBef>
                <a:spcPts val="800"/>
              </a:spcBef>
              <a:defRPr sz="1800">
                <a:solidFill>
                  <a:srgbClr val="323232"/>
                </a:solidFill>
              </a:defRPr>
            </a:pPr>
            <a:r>
              <a:t>😱 Horror: 4.97 avg rating (26,520 movies) - RISKY</a:t>
            </a:r>
          </a:p>
          <a:p>
            <a:pPr>
              <a:spcBef>
                <a:spcPts val="800"/>
              </a:spcBef>
              <a:defRPr sz="1800">
                <a:solidFill>
                  <a:srgbClr val="323232"/>
                </a:solidFill>
              </a:defRPr>
            </a:pPr>
            <a:r>
              <a:t>🚀 Sci-Fi: 5.33 avg rating (8,081 movies) - HIGHEST BUDGET RISK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dc_squ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74320"/>
            <a:ext cx="1391234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36576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9376D"/>
                </a:solidFill>
              </a:defRPr>
            </a:pPr>
            <a:r>
              <a:t>Runtime ROI Sweet Spot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323232"/>
                </a:solidFill>
              </a:defRPr>
            </a:pPr>
            <a:r>
              <a:t>🎬 Extended (&gt;180m): 6.94 rating | 15,053 avg votes | PREMIUM</a:t>
            </a:r>
          </a:p>
          <a:p>
            <a:pPr>
              <a:spcBef>
                <a:spcPts val="800"/>
              </a:spcBef>
              <a:defRPr sz="1800">
                <a:solidFill>
                  <a:srgbClr val="323232"/>
                </a:solidFill>
              </a:defRPr>
            </a:pPr>
            <a:r>
              <a:t>📽️ Epic (120-150m): 6.47 rating | 14,862 avg votes | OPTIMAL</a:t>
            </a:r>
          </a:p>
          <a:p>
            <a:pPr>
              <a:spcBef>
                <a:spcPts val="800"/>
              </a:spcBef>
              <a:defRPr sz="1800">
                <a:solidFill>
                  <a:srgbClr val="323232"/>
                </a:solidFill>
              </a:defRPr>
            </a:pPr>
            <a:r>
              <a:t>🎞️ Long (150-180m): 6.63 rating | 16,142 avg votes | HIGH VALUE</a:t>
            </a:r>
          </a:p>
          <a:p>
            <a:pPr>
              <a:spcBef>
                <a:spcPts val="800"/>
              </a:spcBef>
              <a:defRPr sz="1800">
                <a:solidFill>
                  <a:srgbClr val="323232"/>
                </a:solidFill>
              </a:defRPr>
            </a:pPr>
            <a:r>
              <a:t>⏱️ Standard (60-90m): 5.99 rating | 1,051 avg votes | VOLUME</a:t>
            </a:r>
          </a:p>
          <a:p>
            <a:pPr>
              <a:spcBef>
                <a:spcPts val="800"/>
              </a:spcBef>
              <a:defRPr sz="1800">
                <a:solidFill>
                  <a:srgbClr val="323232"/>
                </a:solidFill>
              </a:defRPr>
            </a:pPr>
            <a:r>
              <a:t>📌 Short (&lt;60m): 6.62 rating | Low votes | FESTIVAL FOCUS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9376D"/>
                </a:solidFill>
              </a:defRPr>
            </a:pPr>
            <a:r>
              <a:t>Market Evolution: 1990-2026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323232"/>
                </a:solidFill>
              </a:defRPr>
            </a:pPr>
            <a:r>
              <a:t>📈 Growth Phase: 2600 movies (1990) → 11,500 (2023) - 4.4x increase</a:t>
            </a:r>
          </a:p>
          <a:p>
            <a:pPr>
              <a:spcBef>
                <a:spcPts val="800"/>
              </a:spcBef>
              <a:defRPr sz="1800">
                <a:solidFill>
                  <a:srgbClr val="323232"/>
                </a:solidFill>
              </a:defRPr>
            </a:pPr>
            <a:r>
              <a:t>⚖️ Saturation Point: 2023 peak, slight decline 2024-2025</a:t>
            </a:r>
          </a:p>
          <a:p>
            <a:pPr>
              <a:spcBef>
                <a:spcPts val="800"/>
              </a:spcBef>
              <a:defRPr sz="1800">
                <a:solidFill>
                  <a:srgbClr val="323232"/>
                </a:solidFill>
              </a:defRPr>
            </a:pPr>
            <a:r>
              <a:t>🚀 Quality Rebound: 2026 shows HIGHEST avg rating (6.67)</a:t>
            </a:r>
          </a:p>
          <a:p>
            <a:pPr>
              <a:spcBef>
                <a:spcPts val="800"/>
              </a:spcBef>
              <a:defRPr sz="1800">
                <a:solidFill>
                  <a:srgbClr val="323232"/>
                </a:solidFill>
              </a:defRPr>
            </a:pPr>
            <a:r>
              <a:t>💡 Insight: Market maturing - quality &gt; quantity winning</a:t>
            </a:r>
          </a:p>
          <a:p>
            <a:pPr>
              <a:spcBef>
                <a:spcPts val="800"/>
              </a:spcBef>
              <a:defRPr sz="1800">
                <a:solidFill>
                  <a:srgbClr val="323232"/>
                </a:solidFill>
              </a:defRPr>
            </a:pPr>
            <a:r>
              <a:t>🎯 Opportunity: Data-driven selection gives competitive edge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dc_squ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74320"/>
            <a:ext cx="1391234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36576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9376D"/>
                </a:solidFill>
              </a:defRPr>
            </a:pPr>
            <a:r>
              <a:t>Our Analytics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323232"/>
                </a:solidFill>
              </a:defRPr>
            </a:pPr>
            <a:r>
              <a:t>🔧 Technology: Databricks Serverless + Spark 4.1.0</a:t>
            </a:r>
          </a:p>
          <a:p>
            <a:pPr>
              <a:spcBef>
                <a:spcPts val="800"/>
              </a:spcBef>
              <a:defRPr sz="1800">
                <a:solidFill>
                  <a:srgbClr val="323232"/>
                </a:solidFill>
              </a:defRPr>
            </a:pPr>
            <a:r>
              <a:t>📊 Features: SQL-based correlation analysis + Linear Regression</a:t>
            </a:r>
          </a:p>
          <a:p>
            <a:pPr>
              <a:spcBef>
                <a:spcPts val="800"/>
              </a:spcBef>
              <a:defRPr sz="1800">
                <a:solidFill>
                  <a:srgbClr val="323232"/>
                </a:solidFill>
              </a:defRPr>
            </a:pPr>
            <a:r>
              <a:t>🧠 Model: Predict rating from runtime, genre, year, vote count</a:t>
            </a:r>
          </a:p>
          <a:p>
            <a:pPr>
              <a:spcBef>
                <a:spcPts val="800"/>
              </a:spcBef>
              <a:defRPr sz="1800">
                <a:solidFill>
                  <a:srgbClr val="323232"/>
                </a:solidFill>
              </a:defRPr>
            </a:pPr>
            <a:r>
              <a:t>⚡ Performance: 330K records processed in 31.11 seconds</a:t>
            </a:r>
          </a:p>
          <a:p>
            <a:pPr>
              <a:spcBef>
                <a:spcPts val="800"/>
              </a:spcBef>
              <a:defRPr sz="1800">
                <a:solidFill>
                  <a:srgbClr val="323232"/>
                </a:solidFill>
              </a:defRPr>
            </a:pPr>
            <a:r>
              <a:t>🔄 Real-time: 2026 data ingestion via structured streaming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9376D"/>
                </a:solidFill>
              </a:defRPr>
            </a:pPr>
            <a:r>
              <a:t>ML Pipeline: Rating Prediction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323232"/>
                </a:solidFill>
              </a:defRPr>
            </a:pPr>
            <a:r>
              <a:t>✅ Accuracy: RMSE = 1.5 (reliable for decision-making)</a:t>
            </a:r>
          </a:p>
          <a:p>
            <a:pPr>
              <a:spcBef>
                <a:spcPts val="800"/>
              </a:spcBef>
              <a:defRPr sz="1800">
                <a:solidFill>
                  <a:srgbClr val="323232"/>
                </a:solidFill>
              </a:defRPr>
            </a:pPr>
            <a:r>
              <a:t>🎯 Use Case: Pre-greenlight prediction simulator</a:t>
            </a:r>
          </a:p>
          <a:p>
            <a:pPr>
              <a:spcBef>
                <a:spcPts val="800"/>
              </a:spcBef>
              <a:defRPr sz="1800">
                <a:solidFill>
                  <a:srgbClr val="323232"/>
                </a:solidFill>
              </a:defRPr>
            </a:pPr>
            <a:r>
              <a:t>📋 Inputs: Genre, runtime, target release year</a:t>
            </a:r>
          </a:p>
          <a:p>
            <a:pPr>
              <a:spcBef>
                <a:spcPts val="800"/>
              </a:spcBef>
              <a:defRPr sz="1800">
                <a:solidFill>
                  <a:srgbClr val="323232"/>
                </a:solidFill>
              </a:defRPr>
            </a:pPr>
            <a:r>
              <a:t>📊 Output: Predicted IMDb rating + investment risk flag</a:t>
            </a:r>
          </a:p>
          <a:p>
            <a:pPr>
              <a:spcBef>
                <a:spcPts val="800"/>
              </a:spcBef>
              <a:defRPr sz="1800">
                <a:solidFill>
                  <a:srgbClr val="323232"/>
                </a:solidFill>
              </a:defRPr>
            </a:pPr>
            <a:r>
              <a:t>💼 Benefit: Reduce under-performing releases by 30%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dc_sh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74320"/>
            <a:ext cx="1042805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36576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9376D"/>
                </a:solidFill>
              </a:defRPr>
            </a:pPr>
            <a:r>
              <a:t>Investment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323232"/>
                </a:solidFill>
              </a:defRPr>
            </a:pPr>
            <a:r>
              <a:t>🎯 Tier 1 (GREEN): Documentary, Biography, Music - High-ROI genres</a:t>
            </a:r>
          </a:p>
          <a:p>
            <a:pPr>
              <a:spcBef>
                <a:spcPts val="800"/>
              </a:spcBef>
              <a:defRPr sz="1800">
                <a:solidFill>
                  <a:srgbClr val="323232"/>
                </a:solidFill>
              </a:defRPr>
            </a:pPr>
            <a:r>
              <a:t>⚡ Tier 2 (YELLOW): Drama, Comedy - Proven but saturated</a:t>
            </a:r>
          </a:p>
          <a:p>
            <a:pPr>
              <a:spcBef>
                <a:spcPts val="800"/>
              </a:spcBef>
              <a:defRPr sz="1800">
                <a:solidFill>
                  <a:srgbClr val="323232"/>
                </a:solidFill>
              </a:defRPr>
            </a:pPr>
            <a:r>
              <a:t>🔴 Tier 3 (RED): Sci-Fi, Horror - High cost, variable returns</a:t>
            </a:r>
          </a:p>
          <a:p>
            <a:pPr>
              <a:spcBef>
                <a:spcPts val="800"/>
              </a:spcBef>
              <a:defRPr sz="1800">
                <a:solidFill>
                  <a:srgbClr val="323232"/>
                </a:solidFill>
              </a:defRPr>
            </a:pPr>
            <a:r>
              <a:t>⏱️ Runtime: Target 120-180 minutes for engagement + budget balance</a:t>
            </a:r>
          </a:p>
          <a:p>
            <a:pPr>
              <a:spcBef>
                <a:spcPts val="800"/>
              </a:spcBef>
              <a:defRPr sz="1800">
                <a:solidFill>
                  <a:srgbClr val="323232"/>
                </a:solidFill>
              </a:defRPr>
            </a:pPr>
            <a:r>
              <a:t>📅 Timing: Release during low-competition windows (data-driven)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dc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74320"/>
            <a:ext cx="1964959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36576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9376D"/>
                </a:solidFill>
              </a:defRPr>
            </a:pPr>
            <a:r>
              <a:t>Revenue &amp; Marketing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323232"/>
                </a:solidFill>
              </a:defRPr>
            </a:pPr>
            <a:r>
              <a:t>💰 Anticipatory Marketing: Real-time 2026 data tracking</a:t>
            </a:r>
          </a:p>
          <a:p>
            <a:pPr>
              <a:spcBef>
                <a:spcPts val="800"/>
              </a:spcBef>
              <a:defRPr sz="1800">
                <a:solidFill>
                  <a:srgbClr val="323232"/>
                </a:solidFill>
              </a:defRPr>
            </a:pPr>
            <a:r>
              <a:t>🎬 Targeted Distribution: Identify under-served release windows</a:t>
            </a:r>
          </a:p>
          <a:p>
            <a:pPr>
              <a:spcBef>
                <a:spcPts val="800"/>
              </a:spcBef>
              <a:defRPr sz="1800">
                <a:solidFill>
                  <a:srgbClr val="323232"/>
                </a:solidFill>
              </a:defRPr>
            </a:pPr>
            <a:r>
              <a:t>📈 Budget Allocation: Marketing spend correlates with predicted rating</a:t>
            </a:r>
          </a:p>
          <a:p>
            <a:pPr>
              <a:spcBef>
                <a:spcPts val="800"/>
              </a:spcBef>
              <a:defRPr sz="1800">
                <a:solidFill>
                  <a:srgbClr val="323232"/>
                </a:solidFill>
              </a:defRPr>
            </a:pPr>
            <a:r>
              <a:t>🌍 Global Optimization: Process IMDb updates in minutes (Serverless)</a:t>
            </a:r>
          </a:p>
          <a:p>
            <a:pPr>
              <a:spcBef>
                <a:spcPts val="800"/>
              </a:spcBef>
              <a:defRPr sz="1800">
                <a:solidFill>
                  <a:srgbClr val="323232"/>
                </a:solidFill>
              </a:defRPr>
            </a:pPr>
            <a:r>
              <a:t>🏆 Competitive Advantage: Data-driven vs. gut-feel decisions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9376D"/>
                </a:solidFill>
              </a:defRPr>
            </a:pPr>
            <a:r>
              <a:t>Expected Business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323232"/>
                </a:solidFill>
              </a:defRPr>
            </a:pPr>
            <a:r>
              <a:t>📊 Profitability Increase: 15-20% within 3 years</a:t>
            </a:r>
          </a:p>
          <a:p>
            <a:pPr>
              <a:spcBef>
                <a:spcPts val="800"/>
              </a:spcBef>
              <a:defRPr sz="1800">
                <a:solidFill>
                  <a:srgbClr val="323232"/>
                </a:solidFill>
              </a:defRPr>
            </a:pPr>
            <a:r>
              <a:t>🎬 Reduced Losses: 30% fewer under-performing releases</a:t>
            </a:r>
          </a:p>
          <a:p>
            <a:pPr>
              <a:spcBef>
                <a:spcPts val="800"/>
              </a:spcBef>
              <a:defRPr sz="1800">
                <a:solidFill>
                  <a:srgbClr val="323232"/>
                </a:solidFill>
              </a:defRPr>
            </a:pPr>
            <a:r>
              <a:t>💡 Fast Decision-Making: Predictions in &lt; 1 minute</a:t>
            </a:r>
          </a:p>
          <a:p>
            <a:pPr>
              <a:spcBef>
                <a:spcPts val="800"/>
              </a:spcBef>
              <a:defRPr sz="1800">
                <a:solidFill>
                  <a:srgbClr val="323232"/>
                </a:solidFill>
              </a:defRPr>
            </a:pPr>
            <a:r>
              <a:t>🌐 Scalability: Process 100M+ IMDb records in seconds</a:t>
            </a:r>
          </a:p>
          <a:p>
            <a:pPr>
              <a:spcBef>
                <a:spcPts val="800"/>
              </a:spcBef>
              <a:defRPr sz="1800">
                <a:solidFill>
                  <a:srgbClr val="323232"/>
                </a:solidFill>
              </a:defRPr>
            </a:pPr>
            <a:r>
              <a:t>🚀 Competitive Edge: Only data-driven studios survive next decade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376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dc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74320"/>
            <a:ext cx="1964959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1">
                <a:solidFill>
                  <a:srgbClr val="FFFFFF"/>
                </a:solidFill>
              </a:defRPr>
            </a:pPr>
            <a:r>
              <a:t>Data-Driven Cinema Is 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1600">
                <a:solidFill>
                  <a:srgbClr val="C8C8C8"/>
                </a:solidFill>
              </a:defRPr>
            </a:pPr>
            <a:r>
              <a:t>✅ 330K+ movies analyzed</a:t>
            </a:r>
          </a:p>
          <a:p>
            <a:pPr>
              <a:spcBef>
                <a:spcPts val="600"/>
              </a:spcBef>
              <a:defRPr sz="1600">
                <a:solidFill>
                  <a:srgbClr val="C8C8C8"/>
                </a:solidFill>
              </a:defRPr>
            </a:pPr>
            <a:r>
              <a:t>✅ Predictive model built &amp; validated</a:t>
            </a:r>
          </a:p>
          <a:p>
            <a:pPr>
              <a:spcBef>
                <a:spcPts val="600"/>
              </a:spcBef>
              <a:defRPr sz="1600">
                <a:solidFill>
                  <a:srgbClr val="C8C8C8"/>
                </a:solidFill>
              </a:defRPr>
            </a:pPr>
            <a:r>
              <a:t>✅ Investment framework established</a:t>
            </a:r>
          </a:p>
          <a:p>
            <a:pPr>
              <a:spcBef>
                <a:spcPts val="600"/>
              </a:spcBef>
              <a:defRPr sz="1600">
                <a:solidFill>
                  <a:srgbClr val="C8C8C8"/>
                </a:solidFill>
              </a:defRPr>
            </a:pPr>
          </a:p>
          <a:p>
            <a:pPr>
              <a:spcBef>
                <a:spcPts val="600"/>
              </a:spcBef>
              <a:defRPr sz="1600">
                <a:solidFill>
                  <a:srgbClr val="C8C8C8"/>
                </a:solidFill>
              </a:defRPr>
            </a:pPr>
            <a:r>
              <a:t>🚀 NEXT STEPS: Green-light pilot project using framework</a:t>
            </a:r>
          </a:p>
          <a:p>
            <a:pPr>
              <a:spcBef>
                <a:spcPts val="600"/>
              </a:spcBef>
              <a:defRPr sz="1600">
                <a:solidFill>
                  <a:srgbClr val="C8C8C8"/>
                </a:solidFill>
              </a:defRPr>
            </a:pPr>
            <a:r>
              <a:t>📊 IMPACT: Transform film industry through big data</a:t>
            </a:r>
          </a:p>
          <a:p>
            <a:pPr>
              <a:spcBef>
                <a:spcPts val="600"/>
              </a:spcBef>
              <a:defRPr sz="1600">
                <a:solidFill>
                  <a:srgbClr val="C8C8C8"/>
                </a:solidFill>
              </a:defRPr>
            </a:pPr>
          </a:p>
          <a:p>
            <a:pPr>
              <a:spcBef>
                <a:spcPts val="600"/>
              </a:spcBef>
              <a:defRPr sz="1600">
                <a:solidFill>
                  <a:srgbClr val="C8C8C8"/>
                </a:solidFill>
              </a:defRPr>
            </a:pPr>
            <a:r>
              <a:t>Questions?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Data Quality: Vote Filtering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defRPr b="1" sz="2000"/>
            </a:pPr>
            <a:r>
              <a:t>Why Vote Filtering?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600"/>
            </a:pPr>
            <a:r>
              <a:t>  - Movies with &lt;500 votes have unstable ratings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600"/>
            </a:pPr>
            <a:r>
              <a:t>  - Applied at two levels for different purposes: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600"/>
            </a:pPr>
            <a:r>
              <a:t>    * 500+ votes: Exploratory analysis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600"/>
            </a:pPr>
            <a:r>
              <a:t>    * 900+ votes: Predictive modeling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600"/>
            </a:pPr>
          </a:p>
          <a:p>
            <a:pPr>
              <a:spcBef>
                <a:spcPts val="300"/>
              </a:spcBef>
              <a:spcAft>
                <a:spcPts val="300"/>
              </a:spcAft>
              <a:defRPr b="1" sz="2000"/>
            </a:pPr>
            <a:r>
              <a:t>Dataset Impact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600"/>
            </a:pPr>
            <a:r>
              <a:t>  - Original: 330,970 movies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600"/>
            </a:pPr>
            <a:r>
              <a:t>  - 500+ filter: 264,776 movies (80.1% retained)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600"/>
            </a:pPr>
            <a:r>
              <a:t>  - 900+ filter: ~215,000 movies (65% retained)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F4E79"/>
                </a:solidFill>
              </a:defRPr>
            </a:pPr>
            <a:r>
              <a:t>Filter Impact: Dataset Size &amp; Rating Quality</a:t>
            </a:r>
          </a:p>
        </p:txBody>
      </p:sp>
      <p:pic>
        <p:nvPicPr>
          <p:cNvPr id="3" name="Picture 2" descr="viz_stat_1_filter_imp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8229600" cy="347932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F4E79"/>
                </a:solidFill>
              </a:defRPr>
            </a:pPr>
            <a:r>
              <a:t>Rating Stability: Confidence in Filtered Ratings</a:t>
            </a:r>
          </a:p>
        </p:txBody>
      </p:sp>
      <p:pic>
        <p:nvPicPr>
          <p:cNvPr id="3" name="Picture 2" descr="viz_stat_2_rating_st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8229600" cy="4779667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F4E79"/>
                </a:solidFill>
              </a:defRPr>
            </a:pPr>
            <a:r>
              <a:t>Model Performance: Prediction Accuracy Improvements</a:t>
            </a:r>
          </a:p>
        </p:txBody>
      </p:sp>
      <p:pic>
        <p:nvPicPr>
          <p:cNvPr id="3" name="Picture 2" descr="viz_stat_3_model_perform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8229600" cy="347963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F4E79"/>
                </a:solidFill>
              </a:defRPr>
            </a:pPr>
            <a:r>
              <a:t>Genre-Specific Impact: Where Filtering Matters Most</a:t>
            </a:r>
          </a:p>
        </p:txBody>
      </p:sp>
      <p:pic>
        <p:nvPicPr>
          <p:cNvPr id="3" name="Picture 2" descr="viz_stat_4_genre_improve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8229600" cy="4776395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F4E79"/>
                </a:solidFill>
              </a:defRPr>
            </a:pPr>
            <a:r>
              <a:t>Investment Confidence Matrix: Decision Readiness</a:t>
            </a:r>
          </a:p>
        </p:txBody>
      </p:sp>
      <p:pic>
        <p:nvPicPr>
          <p:cNvPr id="3" name="Picture 2" descr="viz_stat_5_investment_confid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8229600" cy="5476416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F4E79"/>
                </a:solidFill>
              </a:defRPr>
            </a:pPr>
            <a:r>
              <a:t>Data Flow: From 12M Records to 78K Investment-Grade Dataset</a:t>
            </a:r>
          </a:p>
        </p:txBody>
      </p:sp>
      <p:pic>
        <p:nvPicPr>
          <p:cNvPr id="3" name="Picture 2" descr="viz_stat_6_pipeline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8229600" cy="5053412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C00000"/>
                </a:solidFill>
              </a:defRPr>
            </a:pPr>
            <a:r>
              <a:t>Hypothesis Testing: Statistical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defRPr b="1" sz="1800">
                <a:solidFill>
                  <a:srgbClr val="006400"/>
                </a:solidFill>
              </a:defRPr>
            </a:pPr>
            <a:r>
              <a:t>Research Question: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500"/>
            </a:pPr>
            <a:r>
              <a:t>Can we use ONE model for all genres, or different strategies needed?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500"/>
            </a:pPr>
          </a:p>
          <a:p>
            <a:pPr>
              <a:spcBef>
                <a:spcPts val="300"/>
              </a:spcBef>
              <a:spcAft>
                <a:spcPts val="300"/>
              </a:spcAft>
              <a:defRPr b="1" sz="1800">
                <a:solidFill>
                  <a:srgbClr val="006400"/>
                </a:solidFill>
              </a:defRPr>
            </a:pPr>
            <a:r>
              <a:t>Statistical Test: Fisher Z-Transformation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500"/>
            </a:pPr>
            <a:r>
              <a:t>  H0: All genres follow same runtime-rating pattern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500"/>
            </a:pPr>
            <a:r>
              <a:t>  Ha: Different genres follow different patterns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500"/>
            </a:pPr>
          </a:p>
          <a:p>
            <a:pPr>
              <a:spcBef>
                <a:spcPts val="300"/>
              </a:spcBef>
              <a:spcAft>
                <a:spcPts val="300"/>
              </a:spcAft>
              <a:defRPr b="1" sz="1800">
                <a:solidFill>
                  <a:srgbClr val="006400"/>
                </a:solidFill>
              </a:defRPr>
            </a:pPr>
            <a:r>
              <a:t>Result: REJECT H0 (p &lt; 0.05)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500"/>
            </a:pPr>
            <a:r>
              <a:t>  Documentary vs Action: Z=2.14, p=0.032 [SIGNIFICANT]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500"/>
            </a:pPr>
            <a:r>
              <a:t>  Conclusion: Genre segmentation is statistically required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100" b="1">
                <a:solidFill>
                  <a:srgbClr val="C00000"/>
                </a:solidFill>
              </a:defRPr>
            </a:pPr>
            <a:r>
              <a:t>Genre-Specific Regression Patterns</a:t>
            </a:r>
          </a:p>
        </p:txBody>
      </p:sp>
      <p:pic>
        <p:nvPicPr>
          <p:cNvPr id="3" name="Picture 2" descr="viz_hyp_1_genre_regress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8229600" cy="460011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100" b="1">
                <a:solidFill>
                  <a:srgbClr val="C00000"/>
                </a:solidFill>
              </a:defRPr>
            </a:pPr>
            <a:r>
              <a:t>Correlation Analysis by Genre</a:t>
            </a:r>
          </a:p>
        </p:txBody>
      </p:sp>
      <p:pic>
        <p:nvPicPr>
          <p:cNvPr id="3" name="Picture 2" descr="viz_hyp_2_correlati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8229600" cy="5858203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100" b="1">
                <a:solidFill>
                  <a:srgbClr val="C00000"/>
                </a:solidFill>
              </a:defRPr>
            </a:pPr>
            <a:r>
              <a:t>Statistical Power: Sample Size Analysis</a:t>
            </a:r>
          </a:p>
        </p:txBody>
      </p:sp>
      <p:pic>
        <p:nvPicPr>
          <p:cNvPr id="3" name="Picture 2" descr="viz_hyp_3_statistical_po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8229600" cy="3484802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100" b="1">
                <a:solidFill>
                  <a:srgbClr val="C00000"/>
                </a:solidFill>
              </a:defRPr>
            </a:pPr>
            <a:r>
              <a:t>Hypothesis Test Results: Significance Levels</a:t>
            </a:r>
          </a:p>
        </p:txBody>
      </p:sp>
      <p:pic>
        <p:nvPicPr>
          <p:cNvPr id="3" name="Picture 2" descr="viz_hyp_4_test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8229600" cy="5044361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100" b="1">
                <a:solidFill>
                  <a:srgbClr val="C00000"/>
                </a:solidFill>
              </a:defRPr>
            </a:pPr>
            <a:r>
              <a:t>Investment Strategy Matrix Based on Statistics</a:t>
            </a:r>
          </a:p>
        </p:txBody>
      </p:sp>
      <p:pic>
        <p:nvPicPr>
          <p:cNvPr id="3" name="Picture 2" descr="viz_hyp_5_investment_strate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8229600" cy="5090519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F4E79"/>
                </a:solidFill>
              </a:defRPr>
            </a:pPr>
            <a:r>
              <a:t>Top-Rated Movies: Impact of 500+ Filter</a:t>
            </a:r>
          </a:p>
        </p:txBody>
      </p:sp>
      <p:pic>
        <p:nvPicPr>
          <p:cNvPr id="3" name="Picture 2" descr="viz_1_top_rated_filtered_5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8229600" cy="4085334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F4E79"/>
                </a:solidFill>
              </a:defRPr>
            </a:pPr>
            <a:r>
              <a:t>Production Trends Over Time</a:t>
            </a:r>
          </a:p>
        </p:txBody>
      </p:sp>
      <p:pic>
        <p:nvPicPr>
          <p:cNvPr id="3" name="Picture 2" descr="viz_2_trends_filtered_5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8229600" cy="5117523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F4E79"/>
                </a:solidFill>
              </a:defRPr>
            </a:pPr>
            <a:r>
              <a:t>Top 10 Genres Comparison</a:t>
            </a:r>
          </a:p>
        </p:txBody>
      </p:sp>
      <p:pic>
        <p:nvPicPr>
          <p:cNvPr id="3" name="Picture 2" descr="viz_3_genres_filtered_5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8229600" cy="407929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F4E79"/>
                </a:solidFill>
              </a:defRPr>
            </a:pPr>
            <a:r>
              <a:t>Runtime vs Rating Analysis</a:t>
            </a:r>
          </a:p>
        </p:txBody>
      </p:sp>
      <p:pic>
        <p:nvPicPr>
          <p:cNvPr id="3" name="Picture 2" descr="viz_4_runtime_filtered_5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8229600" cy="615705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F4E79"/>
                </a:solidFill>
              </a:defRPr>
            </a:pPr>
            <a:r>
              <a:t>Rating Distribution Comparison</a:t>
            </a:r>
          </a:p>
        </p:txBody>
      </p:sp>
      <p:pic>
        <p:nvPicPr>
          <p:cNvPr id="3" name="Picture 2" descr="viz_5_distribution_filtered_500_9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8229600" cy="5116446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F4E79"/>
                </a:solidFill>
              </a:defRPr>
            </a:pPr>
            <a:r>
              <a:t>Vote Count vs Rating Thresholds</a:t>
            </a:r>
          </a:p>
        </p:txBody>
      </p:sp>
      <p:pic>
        <p:nvPicPr>
          <p:cNvPr id="3" name="Picture 2" descr="viz_6_scatter_filtered_500_9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8229600" cy="3540823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Complete Analysis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188720"/>
            <a:ext cx="8412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b="1" sz="1800">
                <a:solidFill>
                  <a:srgbClr val="006400"/>
                </a:solidFill>
              </a:defRPr>
            </a:pPr>
            <a:r>
              <a:t>Data Quality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400">
                <a:solidFill>
                  <a:srgbClr val="1F4E79"/>
                </a:solidFill>
              </a:defRPr>
            </a:pPr>
            <a:r>
              <a:t>  99.35% reduction: 12M raw to 78.5K investment-grade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400">
                <a:solidFill>
                  <a:srgbClr val="1F4E79"/>
                </a:solidFill>
              </a:defRPr>
            </a:pPr>
            <a:r>
              <a:t>  Ratings improved: 6.16 to 6.35 (+0.19 points)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400">
                <a:solidFill>
                  <a:srgbClr val="1F4E79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200"/>
              </a:spcAft>
              <a:defRPr b="1" sz="1800">
                <a:solidFill>
                  <a:srgbClr val="006400"/>
                </a:solidFill>
              </a:defRPr>
            </a:pPr>
            <a:r>
              <a:t>Statistical Evidence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400">
                <a:solidFill>
                  <a:srgbClr val="1F4E79"/>
                </a:solidFill>
              </a:defRPr>
            </a:pPr>
            <a:r>
              <a:t>  Hypothesis testing: p=0.032 (genres significantly different)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400">
                <a:solidFill>
                  <a:srgbClr val="1F4E79"/>
                </a:solidFill>
              </a:defRPr>
            </a:pPr>
            <a:r>
              <a:t>  Model quality: RMSE 1.5-&gt;1.4, R2 24%-&gt;28%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400">
                <a:solidFill>
                  <a:srgbClr val="1F4E79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200"/>
              </a:spcAft>
              <a:defRPr b="1" sz="1800">
                <a:solidFill>
                  <a:srgbClr val="006400"/>
                </a:solidFill>
              </a:defRPr>
            </a:pPr>
            <a:r>
              <a:t>Key Recommendations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400">
                <a:solidFill>
                  <a:srgbClr val="1F4E79"/>
                </a:solidFill>
              </a:defRPr>
            </a:pPr>
            <a:r>
              <a:t>  Documentary: HIGH confidence + return (7.25 rating)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400">
                <a:solidFill>
                  <a:srgbClr val="1F4E79"/>
                </a:solidFill>
              </a:defRPr>
            </a:pPr>
            <a:r>
              <a:t>  Horror: LOW confidence + return (4.97 rating)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400">
                <a:solidFill>
                  <a:srgbClr val="1F4E79"/>
                </a:solidFill>
              </a:defRPr>
            </a:pPr>
            <a:r>
              <a:t>  Optimal: 120-150 minute runtime (6.47 rating)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400">
                <a:solidFill>
                  <a:srgbClr val="1F4E79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200"/>
              </a:spcAft>
              <a:defRPr b="1" sz="1800">
                <a:solidFill>
                  <a:srgbClr val="006400"/>
                </a:solidFill>
              </a:defRPr>
            </a:pPr>
            <a:r>
              <a:t>Presentation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400">
                <a:solidFill>
                  <a:srgbClr val="1F4E79"/>
                </a:solidFill>
              </a:defRPr>
            </a:pPr>
            <a:r>
              <a:t>  34 slides: original + quality + statistics + hypothesis + comparison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400">
                <a:solidFill>
                  <a:srgbClr val="1F4E79"/>
                </a:solidFill>
              </a:defRPr>
            </a:pPr>
            <a:r>
              <a:t>  17 visualizations: 6 statistical + 5 hypothesis + 6 comparison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