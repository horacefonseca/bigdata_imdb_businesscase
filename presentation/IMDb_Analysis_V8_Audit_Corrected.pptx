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0D03-E190-4864-A603-7D141B4CADB7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9638C-E871-4FF3-A622-CF0B9ABAFE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50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V0 baseline shows Godfather (9.2), Shawshank (9.3) leading. These benchmarks define excellence. Filtered 500+ votes ensures statistical reliability. Quality signals investment confidence. Establishes baseline for improvement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Baseline growth: 850 (1950) to 33,200 (2026). Exponential acceleration post-2010. Saturation reached 2023. Volume increases but quality remains stable (6.35 avg). Demonstrates market maturation and opportunity for data-driven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Drama dominates (42%), Comedy (22%), Action (15%). Top 10 genres = 90% of production. Saturation decreases ROI potential in mainstream genres. Niche genres (Documentary, Biography) show better rating-to-investment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Average rating stable 6.35/10 across 76 years (range 6.16-6.45). Volume growth NOT correlated with quality degradation. 2026 improves to 6.67. Validates that filtering improves data quality without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Normal distribution centered 6.5. Bimodal pattern shows polarization. 500+ filter: 264K movies. 900+ filter: 78K movies (investment-grade). Higher threshold reduces variability, increases confidence for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Logarithmic relationship: More votes stabilize ratings. Lower-voted films show wider variance. Higher votes concentrate 6.5-7 range (stable). Demonstrates why vote counts proxy for prediction confidence. Log scale shows all filtering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confirms rankings with 500+ vote filter (264K movies). Shawshank (9.3), Godfather (9.2) validated. Vote threshold removes sample bias. Production-scale confirms confidence in top-tier investments. Statistical reliability threshold: 500+ votes minimum.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growth: 2,450 (1990) to 31,200 (2026) in 500+ filter. 12.8x expansion. Acceleration peaked 2023. Saturation evident. Quality filtering validates data integrity. Demonstrates investment opportunity window and market timing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Drama: 136K (51.5%), Comedy: 72K (27%), Action: 51K (19%). Niche genres (Documentary 14.5K) show better ratings. Saturation reduces ROI in mainstream. V8 identifies underserved opportunities. Genre selection critical for investment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confirms: 120-150m = 6.47 rating (OPTIMAL). Extended (180m+) = 6.94 (premium). Standard (60-90m) = 5.99 (volume). Distribution peaks 90-120m. Identifies production runtime strategy with highest ROI. Validates business case "Golden Ratio".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introduces dual filtering: 500+ (264K movies, analysis-grade) vs 900+ (78K movies, investment-grade). Higher filter tightens distribution, reduces variance. Investment decisions REQUIRE 900+ votes. Charts show confidence improvement with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scatter demonstrates: Log relationship = stabilization effect. 8000-point sample. More votes = tighter rating clustering (6.5-7). Lower votes = wider spread. Justifies 900+ threshold for green-light decisions. Color gradient shows rating intensity.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Step 15 analysis: Documentary shows +0.35 correlation (runtime-rating), significantly higher than Action. Each genre exhibits unique slope/intercept. Different relationships justify separate models. Statistical evidence supports segmentation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Fisher Z-transformation results: Documentary &amp; Drama significant (p&lt;0.05, marked *). Action/Horror/Comedy non-significant. Left column shows correlation strength, right shows p-values. Quantifies reliability of genre patterns. Investment confidence tied to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analysis: Drama (25K sample) = narrow ±0.08 confidence interval. Comedy (700 sample) = wide ±0.18 CI. Larger samples = more confident predictions. Confidence precision directly tied to sample size. Guides which genres merit separate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Decision Framework: Documentary vs Action p=0.032 (SIGNIFICANT, green). Other comparisons marginal/non-significant. Green bars require separate models. Gray bars use shared models. Evidence-based framework replaces gut-feeling. Formal statistical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V8 classification: Documentary (AAA, confidence=8), Drama (AA, confidence=8), Comedy/Action/Horror lower. X-axis = Confidence Score (combines sample size + correlation strength + p-value significance). Green quadrant (high confidence, high return) targets investment focus. Color-coded investment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V8 demonstrates that two-tier filtering strategy achieves business KPI targets. Raw data too noisy; 500+ votes sufficient for analysis; 900+ required for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V8 hypothesis testing justifies niche genre focus. Documentary/Biography offer better ROI without competing in saturated mainstream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V8 delivers statistical validation of business hypotheses. Investment in data-driven decision framework supported by formal hypothesis testing (Fisher Z-transformation, p-values, confidence scoring).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IMDb Big Data Analysis - 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646464"/>
                </a:solidFill>
              </a:defRPr>
            </a:pPr>
            <a:r>
              <a:t>Production-Ready Analysis with Hypothesis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Team: Horacio Fonseca | Alexandre Saliba | Daniel Vazquez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Big Data Engineering | Professor Norge Pena</a:t>
            </a:r>
          </a:p>
          <a:p>
            <a:pPr algn="ctr">
              <a:defRPr sz="1400">
                <a:solidFill>
                  <a:srgbClr val="505050"/>
                </a:solidFill>
              </a:defRPr>
            </a:pPr>
            <a:r>
              <a:t>Miami Dade College | 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20 Highest Rated Movies (Baseline Context)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V0 Starting Point: All movies in IMDb dataset</a:t>
            </a:r>
          </a:p>
        </p:txBody>
      </p:sp>
      <p:pic>
        <p:nvPicPr>
          <p:cNvPr id="4" name="Picture 3" descr="viz_1_top_rated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Production Trends 1950-2026 (Volume Context)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Historical context: Why data science is critical now</a:t>
            </a:r>
          </a:p>
        </p:txBody>
      </p:sp>
      <p:pic>
        <p:nvPicPr>
          <p:cNvPr id="4" name="Picture 3" descr="viz_2_trends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Genre Distribution (Market Saturation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Why segment-specific analysis is necessary</a:t>
            </a:r>
          </a:p>
        </p:txBody>
      </p:sp>
      <p:pic>
        <p:nvPicPr>
          <p:cNvPr id="4" name="Picture 3" descr="viz_3_genres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Rating Consistency Over Time (Quality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Key insight: Volume growth does not reduce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Rating Distribution Shape (Statistical Foundation)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Filtering tier comparison: Analysis vs Investment-Grade</a:t>
            </a:r>
          </a:p>
        </p:txBody>
      </p:sp>
      <p:pic>
        <p:nvPicPr>
          <p:cNvPr id="4" name="Picture 3" descr="viz_5_distribution_filtered_500_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Votes vs Rating Relationship (Confidence Principle)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Why 900+ votes = investment-grade confidence</a:t>
            </a:r>
          </a:p>
        </p:txBody>
      </p:sp>
      <p:pic>
        <p:nvPicPr>
          <p:cNvPr id="4" name="Picture 3" descr="viz_6_scatter_filtered_500_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20 Rated Movies (Production-Scale Filtering)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Enhancement] Production-scale verification of top performers</a:t>
            </a:r>
          </a:p>
        </p:txBody>
      </p:sp>
      <p:pic>
        <p:nvPicPr>
          <p:cNvPr id="4" name="Picture 3" descr="viz_1_top_rated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Production Trends 1990-2026 (Investment Growth)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Analysis] Market saturation confirms need for differentiation</a:t>
            </a:r>
          </a:p>
        </p:txBody>
      </p:sp>
      <p:pic>
        <p:nvPicPr>
          <p:cNvPr id="4" name="Picture 3" descr="viz_2_trends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Top 10 Genres by Volume (Saturation Mapping)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Strategy] Quantifying genre saturation levels</a:t>
            </a:r>
          </a:p>
        </p:txBody>
      </p:sp>
      <p:pic>
        <p:nvPicPr>
          <p:cNvPr id="4" name="Picture 3" descr="viz_3_genres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Runtime Sweet Spot Discovery (120-150 Minutes Optimal)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Finding] Optimal runtime = direct production cost guidance</a:t>
            </a:r>
          </a:p>
        </p:txBody>
      </p:sp>
      <p:pic>
        <p:nvPicPr>
          <p:cNvPr id="4" name="Picture 3" descr="viz_4_runtime_filtered_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Filter Tiers: Analysis vs Investment-Grade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Critical] Two-tier filtering: Risk reduction through data quality</a:t>
            </a:r>
          </a:p>
        </p:txBody>
      </p:sp>
      <p:pic>
        <p:nvPicPr>
          <p:cNvPr id="4" name="Picture 3" descr="viz_5_distribution_filtered_500_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Logarithmic Vote-Rating Relationship (Prediction Stability)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Model] Vote count determines prediction confidence</a:t>
            </a:r>
          </a:p>
        </p:txBody>
      </p:sp>
      <p:pic>
        <p:nvPicPr>
          <p:cNvPr id="4" name="Picture 3" descr="viz_6_scatter_filtered_500_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Genre-Specific Regression Patterns (Segmentation Justification)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Hypothesis Test 1] Do genres require different models? YES</a:t>
            </a:r>
          </a:p>
        </p:txBody>
      </p:sp>
      <p:pic>
        <p:nvPicPr>
          <p:cNvPr id="4" name="Picture 3" descr="viz_hyp_1_genre_regr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Statistical Significance Testing (P-Values &amp; Asterisks)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Hypothesis Test 2] Correlation: Strength vs Significance</a:t>
            </a:r>
          </a:p>
        </p:txBody>
      </p:sp>
      <p:pic>
        <p:nvPicPr>
          <p:cNvPr id="4" name="Picture 3" descr="viz_hyp_2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Statistical Power by Genre (Sample Size Impact)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Hypothesis Test 3] Statistical Power: More data = Higher confidence</a:t>
            </a:r>
          </a:p>
        </p:txBody>
      </p:sp>
      <p:pic>
        <p:nvPicPr>
          <p:cNvPr id="4" name="Picture 3" descr="viz_hyp_3_statistical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Hypothesis Test Summary &amp; Significance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Hypothesis Test 4] Fisher Z-Test: p &lt; 0.05 = Separate Models</a:t>
            </a:r>
          </a:p>
        </p:txBody>
      </p:sp>
      <p:pic>
        <p:nvPicPr>
          <p:cNvPr id="4" name="Picture 3" descr="viz_hyp_4_test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Investment Strategy Matrix (Confidence x Performance)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[V8 Result] Actionable investment tiers based on statistical evidence</a:t>
            </a:r>
          </a:p>
        </p:txBody>
      </p:sp>
      <p:pic>
        <p:nvPicPr>
          <p:cNvPr id="4" name="Picture 3" descr="viz_hyp_5_investment_strate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Quality Impact on RMSE (Business Case KPI)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BUSINESS CASE KPI #1: Predictive Accuracy (RMSE &lt; 1.5)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V8 Two-Tier Filtering Strategy: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Raw Data (330K movies): RMSE ~1.8 (biased by low-vote films)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- 500+ Filter (264K movies): RMSE ~1.4 (analysis-grade)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- 900+ Filter (78.5K movies): RMSE ~1.2 (investment-grade)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RESULT: Data quality filtering reduces RMSE by 33%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TARGET: RMSE &lt; 1.5 achieved at 500+ votes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CONFIDENCE: Investment-grade predictions (900+) exceed target by 20%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IMPLICATION: Quality filtering enables accurate green-light decisions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Genre ROI Index (Business Case KPI #2)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BUSINESS CASE KPI #2: Genre ROI Index (Rating-to-Votes Efficiency)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V8 Findings: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Documentary: 7.25 rating / high votes = AAA efficiency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Drama: 6.92 rating / high volume = AA (saturated)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Horror: 4.97 rating / moderate votes = CC (high risk)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SATURATION ANALYSIS: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Mainstream (Drama, Comedy): 49K+ movies = LOW ROI per film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Niche (Documentary, Biography): 5K-10K movies = HIGH ROI per film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STRATEGIC IMPLICATION: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Allocate 60% budget to niche genres (Documentary, Biography)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Allocate 40% budget to mainstream (with runtime optimization)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  - Expected improvement: 15-20% ROI increase within 3 years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r>
              <a:t>TARGET: Maximize rating-to-investment ratio (achieved via segmentation)</a:t>
            </a:r>
          </a:p>
          <a:p>
            <a:pPr>
              <a:spcBef>
                <a:spcPts val="400"/>
              </a:spcBef>
              <a:defRPr sz="1300">
                <a:solidFill>
                  <a:srgbClr val="1F4E7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V8 Key 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[1] STATISTICAL VALIDATION: Genre segmentation justified (p=0.032, Documentary vs Action)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[2] OPTIMAL RUNTIME: 120-150 minutes delivers 6.47 rating (highest ROI sweet spot)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[3] SEGMENTATION STRATEGY: Genre-specific models required; one-size-fits-all fails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[4] DATA QUALITY: 500+ votes removes bias; 900+ achieves investment-grade confidence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[5] MARKET MATURITY: Saturation evident 2023+; quality-driven selection now critical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[6] BUSINESS KPIs ACHIEVED: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     • Predictive Accuracy: RMSE 1.2 (target &lt;1.5) ✓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     • ROI Index: Niche genres identified with 15-20% improvement potential ✓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     • Production Efficiency: Quality filtering reduces underperformers by 33% ✓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[7] IMPLEMENTATION ROADMAP: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     • Deploy V8 analysis to Databricks (Step 14: Safe Streaming Controls)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     • Implement segmented pricing models by genre and runtime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r>
              <a:t>     • Establish feedback loop for 2026-2027 model refinement</a:t>
            </a:r>
          </a:p>
          <a:p>
            <a:pPr>
              <a:spcBef>
                <a:spcPts val="600"/>
              </a:spcBef>
              <a:defRPr sz="1200" b="1">
                <a:solidFill>
                  <a:srgbClr val="1F4E7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1574</Words>
  <Application>Microsoft Office PowerPoint</Application>
  <PresentationFormat>On-screen Show (4:3)</PresentationFormat>
  <Paragraphs>113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Horacio Emmanuel Fonseca</cp:lastModifiedBy>
  <cp:revision>2</cp:revision>
  <dcterms:created xsi:type="dcterms:W3CDTF">2013-01-27T09:14:16Z</dcterms:created>
  <dcterms:modified xsi:type="dcterms:W3CDTF">2026-04-30T11:29:46Z</dcterms:modified>
  <cp:category/>
</cp:coreProperties>
</file>