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Godfather and Shawshank lead 330K+ movie dataset. These benchmarks define excellence in cinema. Top ratings stabilize with 500+ votes. Classic films dominate IMDb rankings. Quality signals investment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Exponential growth from 850 movies (1950) to 33,200+ (2026). Market saturation evident since 2023. Production acceleration reflects digital democratization. Investment volume increases dramatically post-2010. Volume exceeds quality in raw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Drama dominates with 140K+ movies (42% of dataset). Comedy second at 74.5K. Horror third at 23.8K. Top 10 genres account for 90%+ of production. Genre concentration reveals market specialization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Average rating remains stable at 6.35 across 76 years. Range: 6.16-6.45 demonstrates consistency. No significant quality degradation despite volume growth. 2026 shows improvement to 6.67. Ratings reflect filtering, not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Normal distribution centered at 6.5, mean 6.35. Bimodal pattern shows excellent/poor polarization. Rating concentration between 6-7 represents bulk of films. Outliers in 1-2 and 9+ ratings indicate extreme performance. Distribution validates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Positive correlation between votes and ratings visible. Higher-voted films tend toward 6.5-7 range. Logarithmic relationship shows vote stabilization effect. Early votes carry more weight initially. Statistical analysis required for confidence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18288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IMDb Big Data Analysis - V0 - Starting Point (Baseline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Data-Driven Film Investment Strategy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Team Members: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  <a:r>
              <a:t>Horacio Fonseca • Alexandre Saliba • Daniel Vazquez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Big Data Engineering</a:t>
            </a:r>
          </a:p>
          <a:p>
            <a:pPr algn="ctr">
              <a:defRPr sz="1600">
                <a:solidFill>
                  <a:srgbClr val="505050"/>
                </a:solidFill>
              </a:defRPr>
            </a:pPr>
            <a:r>
              <a:t>Professor Norge Pena</a:t>
            </a:r>
          </a:p>
          <a:p>
            <a:pPr algn="ctr">
              <a:defRPr sz="1600">
                <a:solidFill>
                  <a:srgbClr val="505050"/>
                </a:solidFill>
              </a:defRPr>
            </a:pPr>
            <a:r>
              <a:t>Miami Dade College</a:t>
            </a:r>
          </a:p>
          <a:p>
            <a:pPr algn="ctr">
              <a:defRPr sz="1600">
                <a:solidFill>
                  <a:srgbClr val="505050"/>
                </a:solidFill>
              </a:defRPr>
            </a:pPr>
            <a: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20 Highest Rated Movies</a:t>
            </a:r>
          </a:p>
        </p:txBody>
      </p:sp>
      <p:pic>
        <p:nvPicPr>
          <p:cNvPr id="3" name="Picture 2" descr="v0_viz_1_top_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Movie Production Trends (1950-2026)</a:t>
            </a:r>
          </a:p>
        </p:txBody>
      </p:sp>
      <p:pic>
        <p:nvPicPr>
          <p:cNvPr id="3" name="Picture 2" descr="v0_viz_2_movie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Most Common Movie Genres</a:t>
            </a:r>
          </a:p>
        </p:txBody>
      </p:sp>
      <p:pic>
        <p:nvPicPr>
          <p:cNvPr id="3" name="Picture 2" descr="v0_viz_3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Average Rating Consistency Over Time</a:t>
            </a:r>
          </a:p>
        </p:txBody>
      </p:sp>
      <p:pic>
        <p:nvPicPr>
          <p:cNvPr id="3" name="Picture 2" descr="v0_viz_4_avg_rating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Distribution of IMDb Ratings</a:t>
            </a:r>
          </a:p>
        </p:txBody>
      </p:sp>
      <p:pic>
        <p:nvPicPr>
          <p:cNvPr id="3" name="Picture 2" descr="v0_viz_5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Vote Count vs Rating Relationship</a:t>
            </a:r>
          </a:p>
        </p:txBody>
      </p:sp>
      <p:pic>
        <p:nvPicPr>
          <p:cNvPr id="3" name="Picture 2" descr="v0_viz_6_votes_vs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